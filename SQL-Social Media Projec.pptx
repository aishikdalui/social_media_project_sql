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8" r:id="rId12"/>
    <p:sldId id="270" r:id="rId13"/>
    <p:sldId id="272" r:id="rId14"/>
    <p:sldId id="274" r:id="rId15"/>
    <p:sldId id="276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5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21D37-3461-4A45-BEA3-EB4BDA4BA0B5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03B78-7970-364B-8320-CFF699431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1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7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635B-9E35-D91C-E215-5B8846159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pc="-345" dirty="0">
                <a:solidFill>
                  <a:srgbClr val="D3CFFF"/>
                </a:solidFill>
                <a:latin typeface="Bookman Old Style"/>
              </a:rPr>
              <a:t>Social Media Analysis </a:t>
            </a:r>
            <a:br>
              <a:rPr lang="en-IN" spc="-345" dirty="0">
                <a:solidFill>
                  <a:srgbClr val="D3CFFF"/>
                </a:solidFill>
                <a:latin typeface="Bookman Old Style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77E7E-2A85-D1E0-9302-DD405B0C6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AISHIK DALUI</a:t>
            </a:r>
          </a:p>
        </p:txBody>
      </p:sp>
    </p:spTree>
    <p:extLst>
      <p:ext uri="{BB962C8B-B14F-4D97-AF65-F5344CB8AC3E}">
        <p14:creationId xmlns:p14="http://schemas.microsoft.com/office/powerpoint/2010/main" val="173326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F303-2870-4090-19B7-2C24108F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345" dirty="0">
                <a:solidFill>
                  <a:srgbClr val="D3CFFF"/>
                </a:solidFill>
                <a:latin typeface="Bookman Old Style"/>
              </a:rPr>
              <a:t>Project Overview</a:t>
            </a:r>
            <a:br>
              <a:rPr lang="en-IN" spc="-345" dirty="0">
                <a:solidFill>
                  <a:srgbClr val="D3CFFF"/>
                </a:solidFill>
                <a:latin typeface="Bookman Old Styl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5B26-FBA4-0FC8-798D-DEC92345A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spc="-204" dirty="0">
                <a:solidFill>
                  <a:srgbClr val="D3CFFF"/>
                </a:solidFill>
                <a:latin typeface="Lucida Sans"/>
              </a:rPr>
              <a:t>Analyzing social media engagement patterns</a:t>
            </a:r>
          </a:p>
          <a:p>
            <a:r>
              <a:rPr lang="en-US" sz="2000" spc="-204" dirty="0">
                <a:solidFill>
                  <a:srgbClr val="D3CFFF"/>
                </a:solidFill>
                <a:latin typeface="Lucida Sans"/>
              </a:rPr>
              <a:t>This project focuses on understanding user interactions and demographics through SQL insights, enabling effective identification of influencers and optimizing marketing strategies for better outreach.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B855033D-50DA-9DC7-D2C2-16AE7A3693DF}"/>
              </a:ext>
            </a:extLst>
          </p:cNvPr>
          <p:cNvSpPr/>
          <p:nvPr/>
        </p:nvSpPr>
        <p:spPr>
          <a:xfrm>
            <a:off x="883920" y="3429000"/>
            <a:ext cx="2011680" cy="118872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58B4F-B360-F59F-673C-7A8442E47274}"/>
              </a:ext>
            </a:extLst>
          </p:cNvPr>
          <p:cNvSpPr txBox="1"/>
          <p:nvPr/>
        </p:nvSpPr>
        <p:spPr>
          <a:xfrm>
            <a:off x="883920" y="3560291"/>
            <a:ext cx="1319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7,488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B9C4A-57DD-4497-F578-D0AFD86A7DF9}"/>
              </a:ext>
            </a:extLst>
          </p:cNvPr>
          <p:cNvSpPr txBox="1"/>
          <p:nvPr/>
        </p:nvSpPr>
        <p:spPr>
          <a:xfrm>
            <a:off x="883920" y="3971389"/>
            <a:ext cx="1951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dirty="0"/>
          </a:p>
          <a:p>
            <a:endParaRPr lang="en-US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E6902373-A157-301B-FF2C-A6CB1588A762}"/>
              </a:ext>
            </a:extLst>
          </p:cNvPr>
          <p:cNvSpPr/>
          <p:nvPr/>
        </p:nvSpPr>
        <p:spPr>
          <a:xfrm>
            <a:off x="3218340" y="3429000"/>
            <a:ext cx="2011680" cy="118872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998AF78E-1C17-CBC5-0072-DDBC452FD9A0}"/>
              </a:ext>
            </a:extLst>
          </p:cNvPr>
          <p:cNvSpPr/>
          <p:nvPr/>
        </p:nvSpPr>
        <p:spPr>
          <a:xfrm>
            <a:off x="5787920" y="3429000"/>
            <a:ext cx="2011680" cy="118872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79D10-489A-53E6-7BC2-6204EC2B7725}"/>
              </a:ext>
            </a:extLst>
          </p:cNvPr>
          <p:cNvSpPr txBox="1"/>
          <p:nvPr/>
        </p:nvSpPr>
        <p:spPr>
          <a:xfrm>
            <a:off x="3345084" y="3560291"/>
            <a:ext cx="158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8,782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88BE23-D897-3E4F-2E5F-5FF0FBDE2227}"/>
              </a:ext>
            </a:extLst>
          </p:cNvPr>
          <p:cNvSpPr txBox="1"/>
          <p:nvPr/>
        </p:nvSpPr>
        <p:spPr>
          <a:xfrm>
            <a:off x="3345084" y="3877519"/>
            <a:ext cx="158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53447-51AD-5C39-456C-0925EA5F10CF}"/>
              </a:ext>
            </a:extLst>
          </p:cNvPr>
          <p:cNvSpPr txBox="1"/>
          <p:nvPr/>
        </p:nvSpPr>
        <p:spPr>
          <a:xfrm>
            <a:off x="5787920" y="3560291"/>
            <a:ext cx="1886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257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22A5C5-94FB-1484-1001-2DDCD45EF980}"/>
              </a:ext>
            </a:extLst>
          </p:cNvPr>
          <p:cNvSpPr txBox="1"/>
          <p:nvPr/>
        </p:nvSpPr>
        <p:spPr>
          <a:xfrm>
            <a:off x="5787920" y="4074289"/>
            <a:ext cx="1951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06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6EBE12-9B3E-43CB-B552-2C7A13853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7465C4-4FD6-41C0-9B8F-23FDEF424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DA4414-AE37-AC54-3D34-99BE6A3DE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4753466" cy="1293028"/>
          </a:xfrm>
        </p:spPr>
        <p:txBody>
          <a:bodyPr>
            <a:normAutofit/>
          </a:bodyPr>
          <a:lstStyle/>
          <a:p>
            <a:r>
              <a:rPr lang="en-IN" spc="-345" dirty="0">
                <a:solidFill>
                  <a:schemeClr val="bg1"/>
                </a:solidFill>
              </a:rPr>
              <a:t>Database Schema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DEF6-40E6-0A03-B16D-A63D1D427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4753466" cy="4024125"/>
          </a:xfrm>
        </p:spPr>
        <p:txBody>
          <a:bodyPr>
            <a:normAutofit/>
          </a:bodyPr>
          <a:lstStyle/>
          <a:p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Users → user information (id, username,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created_at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)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Photos → images posted by users (id,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image_url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user_id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)</a:t>
            </a:r>
          </a:p>
          <a:p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Likes → tracks photo likes (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photo_id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user_id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)</a:t>
            </a:r>
          </a:p>
          <a:p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Comments → user comments on posts (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photo_id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user_id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comment_text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)</a:t>
            </a:r>
          </a:p>
          <a:p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Tags → hashtags assigned to photos (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photo_id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, </a:t>
            </a:r>
            <a:r>
              <a:rPr lang="en-US" sz="1700" spc="-204" dirty="0" err="1">
                <a:solidFill>
                  <a:schemeClr val="bg1"/>
                </a:solidFill>
                <a:latin typeface="Lucida Sans"/>
              </a:rPr>
              <a:t>tag_name</a:t>
            </a: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)</a:t>
            </a:r>
          </a:p>
          <a:p>
            <a:pPr marL="469900" marR="5080" indent="-457200">
              <a:spcBef>
                <a:spcPts val="100"/>
              </a:spcBef>
              <a:spcAft>
                <a:spcPts val="600"/>
              </a:spcAft>
            </a:pP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Relationships:</a:t>
            </a:r>
          </a:p>
          <a:p>
            <a:pPr marL="12700" marR="5080">
              <a:spcBef>
                <a:spcPts val="100"/>
              </a:spcBef>
              <a:spcAft>
                <a:spcPts val="600"/>
              </a:spcAft>
            </a:pP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         One user → many photos</a:t>
            </a:r>
          </a:p>
          <a:p>
            <a:pPr marL="12700" marR="5080">
              <a:spcBef>
                <a:spcPts val="100"/>
              </a:spcBef>
              <a:spcAft>
                <a:spcPts val="600"/>
              </a:spcAft>
            </a:pP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         One photo → many likes &amp; comments</a:t>
            </a:r>
          </a:p>
          <a:p>
            <a:pPr marL="12700" marR="5080">
              <a:spcBef>
                <a:spcPts val="100"/>
              </a:spcBef>
              <a:spcAft>
                <a:spcPts val="600"/>
              </a:spcAft>
            </a:pPr>
            <a:r>
              <a:rPr lang="en-US" sz="1700" spc="-204" dirty="0">
                <a:solidFill>
                  <a:schemeClr val="bg1"/>
                </a:solidFill>
                <a:latin typeface="Lucida Sans"/>
              </a:rPr>
              <a:t>         One photo → multiple tags</a:t>
            </a:r>
          </a:p>
          <a:p>
            <a:endParaRPr lang="en-US" sz="1700" spc="-204" dirty="0">
              <a:solidFill>
                <a:schemeClr val="bg1"/>
              </a:solidFill>
              <a:latin typeface="Lucida Sans"/>
            </a:endParaRPr>
          </a:p>
          <a:p>
            <a:endParaRPr lang="en-US" sz="1700" dirty="0">
              <a:solidFill>
                <a:schemeClr val="bg1"/>
              </a:solidFill>
            </a:endParaRPr>
          </a:p>
        </p:txBody>
      </p:sp>
      <p:sp useBgFill="1">
        <p:nvSpPr>
          <p:cNvPr id="14" name="Rounded Rectangle 14">
            <a:extLst>
              <a:ext uri="{FF2B5EF4-FFF2-40B4-BE49-F238E27FC236}">
                <a16:creationId xmlns:a16="http://schemas.microsoft.com/office/drawing/2014/main" id="{AF2529C0-FA6B-474D-B1E5-73BA7011F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1066164"/>
            <a:ext cx="5305958" cy="5148371"/>
          </a:xfrm>
          <a:prstGeom prst="roundRect">
            <a:avLst>
              <a:gd name="adj" fmla="val 2403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B7B15-7AAB-4F67-74CF-F7309F25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04" y="2217601"/>
            <a:ext cx="4683948" cy="284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43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CE59-6100-860F-CECE-68196CF0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345" dirty="0">
                <a:solidFill>
                  <a:srgbClr val="D3CFFF"/>
                </a:solidFill>
              </a:rPr>
              <a:t>Data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797E5-B3DF-BDA0-2155-9FC163FF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400" spc="-204" dirty="0">
              <a:solidFill>
                <a:srgbClr val="D3CFFF"/>
              </a:solidFill>
              <a:latin typeface="Lucida Sans"/>
              <a:cs typeface="Lucida Sans"/>
            </a:endParaRPr>
          </a:p>
          <a:p>
            <a:endParaRPr lang="en-IN" sz="2400" spc="-204" dirty="0">
              <a:solidFill>
                <a:srgbClr val="D3CFFF"/>
              </a:solidFill>
              <a:latin typeface="Lucida Sans"/>
              <a:cs typeface="Lucida Sans"/>
            </a:endParaRPr>
          </a:p>
          <a:p>
            <a:endParaRPr lang="en-IN" sz="2400" spc="-204" dirty="0">
              <a:solidFill>
                <a:srgbClr val="D3CFFF"/>
              </a:solidFill>
              <a:latin typeface="Lucida Sans"/>
              <a:cs typeface="Lucida Sans"/>
            </a:endParaRPr>
          </a:p>
          <a:p>
            <a:r>
              <a:rPr lang="en-IN" sz="2400" spc="-204" dirty="0">
                <a:solidFill>
                  <a:srgbClr val="D3CFFF"/>
                </a:solidFill>
                <a:latin typeface="Lucida Sans"/>
                <a:cs typeface="Lucida Sans"/>
              </a:rPr>
              <a:t>Dataset: Instagram clone database (</a:t>
            </a:r>
            <a:r>
              <a:rPr lang="en-IN" sz="2400" spc="-204" dirty="0" err="1">
                <a:solidFill>
                  <a:srgbClr val="D3CFFF"/>
                </a:solidFill>
                <a:latin typeface="Lucida Sans"/>
                <a:cs typeface="Lucida Sans"/>
              </a:rPr>
              <a:t>ig_clone.sql</a:t>
            </a:r>
            <a:r>
              <a:rPr lang="en-IN" sz="2400" spc="-204" dirty="0">
                <a:solidFill>
                  <a:srgbClr val="D3CFFF"/>
                </a:solidFill>
                <a:latin typeface="Lucida Sans"/>
                <a:cs typeface="Lucida Sans"/>
              </a:rPr>
              <a:t>) </a:t>
            </a:r>
          </a:p>
          <a:p>
            <a:r>
              <a:rPr lang="en-IN" sz="2400" spc="-204" dirty="0">
                <a:solidFill>
                  <a:srgbClr val="D3CFFF"/>
                </a:solidFill>
                <a:latin typeface="Lucida Sans"/>
                <a:cs typeface="Lucida Sans"/>
              </a:rPr>
              <a:t>Key Tables: users, photos, likes, comments, </a:t>
            </a:r>
            <a:r>
              <a:rPr lang="en-IN" sz="2400" spc="-204" dirty="0" err="1">
                <a:solidFill>
                  <a:srgbClr val="D3CFFF"/>
                </a:solidFill>
                <a:latin typeface="Lucida Sans"/>
                <a:cs typeface="Lucida Sans"/>
              </a:rPr>
              <a:t>tagsTotal</a:t>
            </a:r>
            <a:r>
              <a:rPr lang="en-IN" sz="2400" spc="-204" dirty="0">
                <a:solidFill>
                  <a:srgbClr val="D3CFFF"/>
                </a:solidFill>
                <a:latin typeface="Lucida Sans"/>
                <a:cs typeface="Lucida Sans"/>
              </a:rPr>
              <a:t> Users: 100 | Photos: 1000+ | Likes &amp; Comments: Thousands</a:t>
            </a:r>
          </a:p>
          <a:p>
            <a:endParaRPr lang="en-IN" sz="2400" spc="-204" dirty="0">
              <a:solidFill>
                <a:srgbClr val="D3CFFF"/>
              </a:solidFill>
              <a:latin typeface="Lucida Sans"/>
              <a:cs typeface="Lucida Sans"/>
            </a:endParaRPr>
          </a:p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345377E-A6CA-62A6-3003-5C6186C69032}"/>
              </a:ext>
            </a:extLst>
          </p:cNvPr>
          <p:cNvSpPr/>
          <p:nvPr/>
        </p:nvSpPr>
        <p:spPr>
          <a:xfrm>
            <a:off x="1135670" y="2057401"/>
            <a:ext cx="3123814" cy="1293028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1A27A3B-3925-2AC6-B850-CF25A4148EA5}"/>
              </a:ext>
            </a:extLst>
          </p:cNvPr>
          <p:cNvSpPr/>
          <p:nvPr/>
        </p:nvSpPr>
        <p:spPr>
          <a:xfrm>
            <a:off x="4543642" y="2057401"/>
            <a:ext cx="3234545" cy="1293028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3BE6B1C-2901-D038-B65E-63405406DFBA}"/>
              </a:ext>
            </a:extLst>
          </p:cNvPr>
          <p:cNvSpPr/>
          <p:nvPr/>
        </p:nvSpPr>
        <p:spPr>
          <a:xfrm>
            <a:off x="7932518" y="2010660"/>
            <a:ext cx="3573682" cy="137160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458FD-34DD-5499-1264-D9A02440F2FE}"/>
              </a:ext>
            </a:extLst>
          </p:cNvPr>
          <p:cNvSpPr txBox="1"/>
          <p:nvPr/>
        </p:nvSpPr>
        <p:spPr>
          <a:xfrm>
            <a:off x="1139721" y="2194560"/>
            <a:ext cx="4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0E96C-A48A-E083-509F-2367F00F7315}"/>
              </a:ext>
            </a:extLst>
          </p:cNvPr>
          <p:cNvSpPr txBox="1"/>
          <p:nvPr/>
        </p:nvSpPr>
        <p:spPr>
          <a:xfrm>
            <a:off x="1597307" y="2194560"/>
            <a:ext cx="221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Null Values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ED25C-EBA4-AACB-2BA1-59F2C05356F1}"/>
              </a:ext>
            </a:extLst>
          </p:cNvPr>
          <p:cNvSpPr txBox="1"/>
          <p:nvPr/>
        </p:nvSpPr>
        <p:spPr>
          <a:xfrm>
            <a:off x="4543642" y="2154677"/>
            <a:ext cx="416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BD83A-731A-B70C-0D77-9EF5E6B0BF5B}"/>
              </a:ext>
            </a:extLst>
          </p:cNvPr>
          <p:cNvSpPr txBox="1"/>
          <p:nvPr/>
        </p:nvSpPr>
        <p:spPr>
          <a:xfrm>
            <a:off x="8021256" y="2154677"/>
            <a:ext cx="61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410677-DF8A-6E28-D365-2D9C6A000D48}"/>
              </a:ext>
            </a:extLst>
          </p:cNvPr>
          <p:cNvSpPr txBox="1"/>
          <p:nvPr/>
        </p:nvSpPr>
        <p:spPr>
          <a:xfrm>
            <a:off x="4960331" y="2194560"/>
            <a:ext cx="252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Duplicates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89329-0B02-5FCE-F013-91223DB42669}"/>
              </a:ext>
            </a:extLst>
          </p:cNvPr>
          <p:cNvSpPr txBox="1"/>
          <p:nvPr/>
        </p:nvSpPr>
        <p:spPr>
          <a:xfrm>
            <a:off x="8722103" y="2154677"/>
            <a:ext cx="234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Tags/Post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E64E40-36DB-C830-B2D9-4BACA8E117AD}"/>
              </a:ext>
            </a:extLst>
          </p:cNvPr>
          <p:cNvSpPr txBox="1"/>
          <p:nvPr/>
        </p:nvSpPr>
        <p:spPr>
          <a:xfrm>
            <a:off x="1226240" y="2741358"/>
            <a:ext cx="2961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</a:t>
            </a: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 nulls in users table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6B60D-707E-9E1C-4A36-57083A73CAE9}"/>
              </a:ext>
            </a:extLst>
          </p:cNvPr>
          <p:cNvSpPr txBox="1"/>
          <p:nvPr/>
        </p:nvSpPr>
        <p:spPr>
          <a:xfrm>
            <a:off x="4751986" y="2696460"/>
            <a:ext cx="302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uploaded same photo twice (</a:t>
            </a: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13854-7603-28E4-E1D1-6C2251909848}"/>
              </a:ext>
            </a:extLst>
          </p:cNvPr>
          <p:cNvSpPr txBox="1"/>
          <p:nvPr/>
        </p:nvSpPr>
        <p:spPr>
          <a:xfrm>
            <a:off x="8021256" y="2667451"/>
            <a:ext cx="332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 tags per photo — moderate use of categorization</a:t>
            </a:r>
            <a:endParaRPr lang="en-US" sz="1200" dirty="0"/>
          </a:p>
        </p:txBody>
      </p:sp>
      <p:sp>
        <p:nvSpPr>
          <p:cNvPr id="16" name="Shape 27">
            <a:extLst>
              <a:ext uri="{FF2B5EF4-FFF2-40B4-BE49-F238E27FC236}">
                <a16:creationId xmlns:a16="http://schemas.microsoft.com/office/drawing/2014/main" id="{648EDE01-7678-2EDB-2F52-974057274F68}"/>
              </a:ext>
            </a:extLst>
          </p:cNvPr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9B8556-6CD8-3C5E-3294-4E006D5988E3}"/>
              </a:ext>
            </a:extLst>
          </p:cNvPr>
          <p:cNvSpPr txBox="1"/>
          <p:nvPr/>
        </p:nvSpPr>
        <p:spPr>
          <a:xfrm>
            <a:off x="685800" y="5856790"/>
            <a:ext cx="109583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only 257 posts, the platform generates 8,782 likes and 7,488 comments — users are highly interactive consumers of content, not just passive viewers.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1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635C-E155-E282-F2A6-AF8CBBAF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204" dirty="0">
                <a:solidFill>
                  <a:srgbClr val="D3CFFF"/>
                </a:solidFill>
                <a:cs typeface="Lucida Sans"/>
              </a:rPr>
              <a:t>Objectives Key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2A00-C614-D278-8246-EF8E47162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User activity distribution (posts, likes, comments)</a:t>
            </a:r>
          </a:p>
          <a:p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Identify top influencers and loyal users</a:t>
            </a:r>
          </a:p>
          <a:p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Engagement by hashtag &amp; posting time trends</a:t>
            </a:r>
          </a:p>
          <a:p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Segmentation: Power Creators, Active, Dormant Users</a:t>
            </a:r>
          </a:p>
          <a:p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Key metrics: CTR, Engagement Rate, </a:t>
            </a:r>
            <a:r>
              <a:rPr lang="en-IN" sz="1700" spc="-204" dirty="0" err="1">
                <a:solidFill>
                  <a:srgbClr val="D3CFFF"/>
                </a:solidFill>
                <a:latin typeface="Lucida Sans"/>
                <a:cs typeface="Lucida Sans"/>
              </a:rPr>
              <a:t>Averege</a:t>
            </a:r>
            <a:r>
              <a:rPr lang="en-IN" sz="1700" spc="-204" dirty="0">
                <a:solidFill>
                  <a:srgbClr val="D3CFFF"/>
                </a:solidFill>
                <a:latin typeface="Lucida Sans"/>
                <a:cs typeface="Lucida Sans"/>
              </a:rPr>
              <a:t> Likes per Post</a:t>
            </a:r>
            <a:endParaRPr lang="en-IN" sz="1700" dirty="0">
              <a:latin typeface="Lucida Sans"/>
              <a:cs typeface="Lucida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51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F2ED-3344-A961-AB5A-6D6B9800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sz="2800" dirty="0">
                <a:ea typeface="Georgia" pitchFamily="34" charset="-122"/>
                <a:cs typeface="Georgia" pitchFamily="34" charset="-120"/>
              </a:rPr>
              <a:t>User Activity &amp; Engagement Distribution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872E-7BF6-459E-36B0-B3D0EDD6E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916820"/>
            <a:ext cx="5816600" cy="2210765"/>
          </a:xfrm>
        </p:spPr>
        <p:txBody>
          <a:bodyPr>
            <a:normAutofit/>
          </a:bodyPr>
          <a:lstStyle/>
          <a:p>
            <a:r>
              <a:rPr lang="en-US" sz="1700" dirty="0" err="1">
                <a:latin typeface="Lucida Sans" panose="020B0602030504020204" pitchFamily="34" charset="77"/>
              </a:rPr>
              <a:t>Meggie_Doyle</a:t>
            </a:r>
            <a:r>
              <a:rPr lang="en-US" sz="1700" dirty="0">
                <a:latin typeface="Lucida Sans" panose="020B0602030504020204" pitchFamily="34" charset="77"/>
              </a:rPr>
              <a:t> has the highest engagement per post (75), making her the strongest performer.</a:t>
            </a:r>
          </a:p>
          <a:p>
            <a:r>
              <a:rPr lang="en-US" sz="1700" dirty="0" err="1"/>
              <a:t>Karley_Bosco</a:t>
            </a:r>
            <a:r>
              <a:rPr lang="en-US" sz="1700" dirty="0"/>
              <a:t> has the lowest (68), while others like Jaylan.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Lakin (73) and </a:t>
            </a:r>
            <a:r>
              <a:rPr lang="en-US" sz="1700" dirty="0" err="1">
                <a:latin typeface="Lucida Sans" panose="020B0602030504020204" pitchFamily="34" charset="77"/>
              </a:rPr>
              <a:t>Granville_Kutch</a:t>
            </a:r>
            <a:r>
              <a:rPr lang="en-US" sz="1700" dirty="0">
                <a:latin typeface="Lucida Sans" panose="020B0602030504020204" pitchFamily="34" charset="77"/>
              </a:rPr>
              <a:t> (71) show solid engagement.</a:t>
            </a:r>
          </a:p>
          <a:p>
            <a:endParaRPr lang="en-US" dirty="0">
              <a:latin typeface="Lucida Sans" panose="020B0602030504020204" pitchFamily="34" charset="77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4AB17-3059-5374-62A9-1397DBB0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77" b="2"/>
          <a:stretch>
            <a:fillRect/>
          </a:stretch>
        </p:blipFill>
        <p:spPr>
          <a:xfrm>
            <a:off x="6985000" y="2501159"/>
            <a:ext cx="4521200" cy="341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9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3134-EC33-80A4-F045-243F41E4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Engagement Behavior Segments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BE35-5499-6E1B-9BC9-4A266D01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40–45% </a:t>
            </a:r>
            <a:r>
              <a:rPr lang="en-US" sz="17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Zero Engagement Users </a:t>
            </a:r>
            <a:r>
              <a:rPr lang="en-US" sz="1700" dirty="0"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Inactive or no posted content</a:t>
            </a:r>
            <a:endParaRPr lang="en-US" sz="1700" dirty="0">
              <a:latin typeface="Lucida Sans" panose="020B0602030504020204" pitchFamily="34" charset="77"/>
            </a:endParaRPr>
          </a:p>
          <a:p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 </a:t>
            </a:r>
            <a:r>
              <a:rPr lang="en-US" sz="17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Mid-Level Engagers </a:t>
            </a:r>
            <a:r>
              <a:rPr lang="en-US" sz="1700" dirty="0"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Consistent 60–66 interactions/post</a:t>
            </a:r>
            <a:endParaRPr lang="en-US" sz="1700" dirty="0">
              <a:latin typeface="Lucida Sans" panose="020B0602030504020204" pitchFamily="34" charset="77"/>
            </a:endParaRPr>
          </a:p>
          <a:p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 </a:t>
            </a:r>
            <a:r>
              <a:rPr lang="en-US" sz="17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High Engagement </a:t>
            </a:r>
            <a:r>
              <a:rPr lang="en-US" sz="1700" dirty="0"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1–2 posts but strong quality</a:t>
            </a:r>
            <a:endParaRPr lang="en-US" sz="1700" dirty="0">
              <a:latin typeface="Lucida Sans" panose="020B0602030504020204" pitchFamily="34" charset="77"/>
            </a:endParaRPr>
          </a:p>
          <a:p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 </a:t>
            </a:r>
            <a:r>
              <a:rPr lang="en-US" sz="17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Power Creators </a:t>
            </a:r>
            <a:r>
              <a:rPr lang="en-US" sz="1700" dirty="0"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Drive majority of platform interactions</a:t>
            </a:r>
            <a:endParaRPr lang="en-US" sz="1700" dirty="0">
              <a:latin typeface="Lucida Sans" panose="020B0602030504020204" pitchFamily="34" charset="77"/>
            </a:endParaRPr>
          </a:p>
          <a:p>
            <a:endParaRPr lang="en-US" sz="1700" dirty="0">
              <a:latin typeface="Lucida Sans" panose="020B0602030504020204" pitchFamily="34" charset="77"/>
            </a:endParaRPr>
          </a:p>
          <a:p>
            <a:pPr marL="0" indent="0">
              <a:buNone/>
            </a:pPr>
            <a:endParaRPr lang="en-US" sz="1700" dirty="0">
              <a:latin typeface="Lucida Sans" panose="020B0602030504020204" pitchFamily="34" charset="77"/>
            </a:endParaRPr>
          </a:p>
          <a:p>
            <a:endParaRPr lang="en-US" sz="1800" dirty="0"/>
          </a:p>
          <a:p>
            <a:endParaRPr lang="en-US" sz="1700" dirty="0">
              <a:latin typeface="Lucida Sans" panose="020B0602030504020204" pitchFamily="34" charset="77"/>
            </a:endParaRPr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4" name="Shape 49">
            <a:extLst>
              <a:ext uri="{FF2B5EF4-FFF2-40B4-BE49-F238E27FC236}">
                <a16:creationId xmlns:a16="http://schemas.microsoft.com/office/drawing/2014/main" id="{4C0B108C-DE40-3E35-5852-E0F929F54EF4}"/>
              </a:ext>
            </a:extLst>
          </p:cNvPr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2D1A00"/>
          </a:solidFill>
          <a:ln w="12700">
            <a:solidFill>
              <a:srgbClr val="2D1A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7B6D2-49BF-6993-3E55-6E93636161D5}"/>
              </a:ext>
            </a:extLst>
          </p:cNvPr>
          <p:cNvSpPr txBox="1"/>
          <p:nvPr/>
        </p:nvSpPr>
        <p:spPr>
          <a:xfrm>
            <a:off x="685800" y="5879939"/>
            <a:ext cx="10820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mid-level users (Alexandro35, Adelle96, Florence99) into top contributors. Users with 1–2 posts but high engagement are hidden gems — identify and activate them.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53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D9B6-8765-33B6-6757-E915B4D5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IN" spc="-405"/>
              <a:t>Per post average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2F2A-CEC4-2743-A294-F7E7821B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US" sz="1700" dirty="0" err="1">
                <a:latin typeface="Lucida Sans" panose="020B0602030504020204" pitchFamily="34" charset="77"/>
              </a:rPr>
              <a:t>Meggie_Doyle</a:t>
            </a:r>
            <a:r>
              <a:rPr lang="en-US" sz="1700" dirty="0">
                <a:latin typeface="Lucida Sans" panose="020B0602030504020204" pitchFamily="34" charset="77"/>
              </a:rPr>
              <a:t> has the highest engagement.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Most users maintain a steady engagement around 60–66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Inactive users (with 0) bring down the total average.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Engagement is good overall, but not equally distributed among users.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The platform can encourage low-engagement users to be more active.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054EC-6CFC-9C7C-20F1-FD21AC4A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2781268"/>
            <a:ext cx="4521200" cy="262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3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85B8-C1FF-6515-7C22-7FB349F7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IN" spc="-405" dirty="0" err="1"/>
              <a:t>Avg</a:t>
            </a:r>
            <a:r>
              <a:rPr lang="en-IN" spc="-405" dirty="0"/>
              <a:t> Likes per tag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9038E-4E88-3DE3-A766-60DD610D9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Lucida Sans" panose="020B0602030504020204" pitchFamily="34" charset="77"/>
              </a:rPr>
              <a:t>The total average likes across all hashtags is 688.6.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Most hashtags have average likes between 33 and 35, showing consistent engagement.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Top-performing hashtags with highest likes per post: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dreamy (35.75) — most liked posts.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beauty (34.95), stunning (34.94), and delicious (34.93) also perform very well.</a:t>
            </a:r>
          </a:p>
          <a:p>
            <a:pPr marL="342900" indent="-342900"/>
            <a:r>
              <a:rPr lang="en-US" sz="1700" dirty="0">
                <a:latin typeface="Lucida Sans" panose="020B0602030504020204" pitchFamily="34" charset="77"/>
              </a:rPr>
              <a:t>Lowest performing hashtags:</a:t>
            </a:r>
          </a:p>
          <a:p>
            <a:pPr marL="0" indent="0">
              <a:buNone/>
            </a:pPr>
            <a:r>
              <a:rPr lang="en-US" sz="1700" dirty="0">
                <a:latin typeface="Lucida Sans" panose="020B0602030504020204" pitchFamily="34" charset="77"/>
              </a:rPr>
              <a:t> fashion (33.68) and sunrise (33.76) — slightly </a:t>
            </a:r>
          </a:p>
          <a:p>
            <a:pPr marL="0" indent="0">
              <a:buNone/>
            </a:pPr>
            <a:r>
              <a:rPr lang="en-US" sz="1700" dirty="0">
                <a:latin typeface="Lucida Sans" panose="020B0602030504020204" pitchFamily="34" charset="77"/>
              </a:rPr>
              <a:t>  	  below average.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7BA09-ACC9-2EFE-70DC-52BE75863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2733651"/>
            <a:ext cx="4521200" cy="271753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978105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1996928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Lucida Sans" panose="020B0602030504020204" pitchFamily="34" charset="77"/>
                <a:ea typeface="Georgia" pitchFamily="34" charset="-122"/>
                <a:cs typeface="Georgia" pitchFamily="34" charset="-120"/>
              </a:rPr>
              <a:t>Hashtag Intelligence &amp; Content Strategy</a:t>
            </a:r>
            <a:endParaRPr lang="en-US" sz="3000" dirty="0">
              <a:latin typeface="Lucida Sans" panose="020B0602030504020204" pitchFamily="34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Top-performing hashtags driving ad targeting and content curation</a:t>
            </a:r>
            <a:endParaRPr lang="en-US" sz="1400" dirty="0">
              <a:latin typeface="Lucida Sans" panose="020B0602030504020204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Hashtags by Average Likes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685800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057399"/>
            <a:ext cx="2498725" cy="1033273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#dreamy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2270125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833495"/>
            <a:ext cx="1097280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35.75 avg likes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057400"/>
            <a:ext cx="2423796" cy="103327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2044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#beauty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20440" y="2587752"/>
            <a:ext cx="2219325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31206" y="2505455"/>
            <a:ext cx="499744" cy="37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64249" y="2057399"/>
            <a:ext cx="2574292" cy="1033269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45634" y="2130552"/>
            <a:ext cx="2218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#stunning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7116" y="2577334"/>
            <a:ext cx="221869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02370" y="2615184"/>
            <a:ext cx="433070" cy="8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64040" y="2130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#delicious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64040" y="2587752"/>
            <a:ext cx="217170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72718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 avg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228" y="3220974"/>
            <a:ext cx="2482977" cy="1197864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#foodie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216535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6422" y="40005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 avg likes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255264"/>
            <a:ext cx="2482977" cy="114300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204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#happy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520440" y="3703320"/>
            <a:ext cx="215265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38861" y="4014216"/>
            <a:ext cx="9603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 avg likes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03417" y="3200399"/>
            <a:ext cx="2635123" cy="118671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24390" y="3246120"/>
            <a:ext cx="14286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#hair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124390" y="3715010"/>
            <a:ext cx="214630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 flipV="1">
            <a:off x="8102278" y="3904488"/>
            <a:ext cx="781499" cy="164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5256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Campaign Alignment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2560" y="1901952"/>
            <a:ext cx="301752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52560" y="2057400"/>
            <a:ext cx="3108960" cy="80467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8972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#beauty / #hair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89720" y="2478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&amp; Salon brands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52560" y="3017520"/>
            <a:ext cx="3108960" cy="80467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8972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#foodie / #delicious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8972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Delivery apps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52560" y="3977640"/>
            <a:ext cx="3108960" cy="80467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8972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#dreamy / #stunning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89720" y="4398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Lifestyle brands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2560" y="4937760"/>
            <a:ext cx="3108960" cy="80467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89720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#happy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89720" y="5358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Entertainment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302800"/>
          </a:solidFill>
          <a:ln w="12700">
            <a:solidFill>
              <a:srgbClr val="302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4360" y="5870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appeal + positive emotion hashtags (#dreamy, #beauty, #happy) drive the highest avg likes. Align paid ad campaigns with these categories and build a hashtag suggestion tool for creators.</a:t>
            </a:r>
            <a:endParaRPr lang="en-US" sz="13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0F8E03-DE3E-45D6-2D0E-3FA27E638D31}"/>
              </a:ext>
            </a:extLst>
          </p:cNvPr>
          <p:cNvSpPr txBox="1"/>
          <p:nvPr/>
        </p:nvSpPr>
        <p:spPr>
          <a:xfrm>
            <a:off x="3538861" y="2862072"/>
            <a:ext cx="168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6B21A8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34.95 avg likes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7491BB-15C6-8C13-CF7E-704E31632A4B}"/>
              </a:ext>
            </a:extLst>
          </p:cNvPr>
          <p:cNvSpPr txBox="1"/>
          <p:nvPr/>
        </p:nvSpPr>
        <p:spPr>
          <a:xfrm>
            <a:off x="6096000" y="2752344"/>
            <a:ext cx="1392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97316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34.94 avg likes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7C22F9-7040-8D40-357A-223D31FD337B}"/>
              </a:ext>
            </a:extLst>
          </p:cNvPr>
          <p:cNvSpPr txBox="1"/>
          <p:nvPr/>
        </p:nvSpPr>
        <p:spPr>
          <a:xfrm>
            <a:off x="6127116" y="3977640"/>
            <a:ext cx="159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C4899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33.8 avg likes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3D23-FA72-772C-93DD-592FDC9D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IN" spc="-405"/>
              <a:t>Top 5 users having highest </a:t>
            </a:r>
            <a:r>
              <a:rPr lang="en-US" spc="-405"/>
              <a:t>likes, comments, and photo tags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ABD7-5D9F-49F3-538B-A364AA266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730405"/>
            <a:ext cx="5816600" cy="3022213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Lucida Sans" panose="020B0602030504020204" pitchFamily="34" charset="77"/>
              </a:rPr>
              <a:t>Alexandro35 and Adelle96 are top-performing users.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More posts = more engagement.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Average engagement per post is moderate to good.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Users are actively liking and commenting on posts.</a:t>
            </a:r>
          </a:p>
          <a:p>
            <a:r>
              <a:rPr lang="en-US" sz="1700" dirty="0">
                <a:latin typeface="Lucida Sans" panose="020B0602030504020204" pitchFamily="34" charset="77"/>
              </a:rPr>
              <a:t>The platform shows positive engagement growth among active users.</a:t>
            </a:r>
          </a:p>
          <a:p>
            <a:endParaRPr lang="en-US" sz="1700" dirty="0">
              <a:latin typeface="Lucida Sans" panose="020B060203050402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553CD-5865-3FB6-394E-4203EA558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2730405"/>
            <a:ext cx="4521200" cy="27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72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199692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FFFFFF"/>
                </a:solidFill>
                <a:latin typeface="+mj-lt"/>
                <a:ea typeface="Georgia" pitchFamily="34" charset="-122"/>
                <a:cs typeface="Georgia" pitchFamily="34" charset="-120"/>
              </a:rPr>
              <a:t>User Segmentation &amp; Targeted Campaigns</a:t>
            </a:r>
            <a:endParaRPr lang="en-US" sz="37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Four behavioral segments — four distinct marketing approaches</a:t>
            </a:r>
            <a:endParaRPr lang="en-US" sz="1400" dirty="0">
              <a:latin typeface="Lucida Sans" panose="020B0602030504020204" pitchFamily="34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669280" cy="210312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Creators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1984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Avg engagement &gt;70/post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512" y="2240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000" dirty="0" err="1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Meggie_Doyle</a:t>
            </a: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, Kenneth64, Rick29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7512" y="2514600"/>
            <a:ext cx="512064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7512" y="262432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C4899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9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Creator Badge • Priority Feed Boost • Brand Collaborations • Early Feature Access</a:t>
            </a:r>
            <a:endParaRPr lang="en-US" sz="900" dirty="0">
              <a:latin typeface="Lucida Sans" panose="020B0602030504020204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5669280" cy="210312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109728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11112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Engagers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6132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11112" y="1984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Avg engagement 40–70/post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1112" y="2240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e.g. Alexandro35, Adelle96, Florence99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11112" y="2514600"/>
            <a:ext cx="512064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11112" y="262432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9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Hashtag Challenges • Community Polls • Reward-based Participation Contests</a:t>
            </a:r>
            <a:endParaRPr lang="en-US" sz="900" dirty="0">
              <a:latin typeface="Lucida Sans" panose="020B0602030504020204" pitchFamily="34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5669280" cy="186537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109728" cy="2103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Casual Users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" y="4315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Avg engagement 1–39/post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" y="4572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e.g. Mid-tier accounts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7512" y="4846320"/>
            <a:ext cx="512064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" y="495604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9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Personalized content tips • Trending hashtag suggestions • Posting reminders</a:t>
            </a:r>
            <a:endParaRPr lang="en-US" sz="900" dirty="0">
              <a:latin typeface="Lucida Sans" panose="020B0602030504020204" pitchFamily="34" charset="7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55080" y="3749040"/>
            <a:ext cx="5577840" cy="191109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3749040"/>
            <a:ext cx="10972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11112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Dormant Users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6132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40–45%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11112" y="4315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No posts or zero engagement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11112" y="4572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e.g. Aniya_Hackett, Kasandra_Homenick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611112" y="4846320"/>
            <a:ext cx="512064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11112" y="495604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9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Comeback Creator Campaign • Re-activation Emails • Badge-based Incentives</a:t>
            </a:r>
            <a:endParaRPr lang="en-US" sz="900" dirty="0">
              <a:latin typeface="Lucida Sans" panose="020B0602030504020204" pitchFamily="34" charset="7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002817"/>
          </a:solidFill>
          <a:ln w="12700">
            <a:solidFill>
              <a:srgbClr val="00281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5870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Engagement-based segmentation improves retention, optimizes marketing spend, strengthens creator ecosystems, and powers personalized recommendation algorithms.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1996928" cy="914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dirty="0">
                <a:solidFill>
                  <a:srgbClr val="FFFFFF"/>
                </a:solidFill>
                <a:latin typeface="+mj-lt"/>
                <a:ea typeface="Georgia" pitchFamily="34" charset="-122"/>
                <a:cs typeface="Georgia" pitchFamily="34" charset="-120"/>
              </a:rPr>
              <a:t>Influencer &amp; Brand Ambassador Identification</a:t>
            </a:r>
            <a:endParaRPr lang="en-US" sz="35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Data-driven criteria to select, tier, and collaborate with influencers</a:t>
            </a:r>
            <a:endParaRPr lang="en-US" sz="1400" dirty="0">
              <a:latin typeface="Lucida Sans" panose="020B0602030504020204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Influencer Candidates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5303520" cy="0"/>
          </a:xfrm>
          <a:prstGeom prst="line">
            <a:avLst/>
          </a:prstGeom>
          <a:noFill/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Meggie_Doyle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Jaylan.Lakin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Granville_Kutch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2715768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843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Kenneth64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374136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02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Rick29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3374136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0128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502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Karley_Bosco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" y="4032504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Damon35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0" y="4032504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4151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Odessa2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11480" y="4690872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" y="4809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818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Janet.Armstrong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0" y="4690872"/>
            <a:ext cx="2606040" cy="5486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10128" y="4809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4818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Aracely.Johnston98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09360" y="1417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Tier Strategy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309360" y="1901952"/>
            <a:ext cx="5303520" cy="0"/>
          </a:xfrm>
          <a:prstGeom prst="line">
            <a:avLst/>
          </a:prstGeom>
          <a:noFill/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09360" y="2057400"/>
            <a:ext cx="5760720" cy="777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09360" y="2057400"/>
            <a:ext cx="91440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21214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Potential Brand Ambassador</a:t>
            </a:r>
            <a:endParaRPr lang="en-US" sz="1300" dirty="0">
              <a:latin typeface="Lucida Sans" panose="020B0602030504020204" pitchFamily="34" charset="7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92240" y="24597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Criteria: ≥90 followers, ≥5 posts, avg eng ≥60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92240" y="2633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Use: Feature launches &amp; platform-wide campaigns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309360" y="2971800"/>
            <a:ext cx="5760720" cy="777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09360" y="2971800"/>
            <a:ext cx="91440" cy="7772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92240" y="3035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Influencer Candidate</a:t>
            </a:r>
            <a:endParaRPr lang="en-US" sz="1300" dirty="0">
              <a:latin typeface="Lucida Sans" panose="020B0602030504020204" pitchFamily="34" charset="7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92240" y="3374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Criteria: ≥50 followers, ≥3 posts, avg eng ≥40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92240" y="35478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Use: Niche &amp; regional promotions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09360" y="3886200"/>
            <a:ext cx="5760720" cy="777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09360" y="3886200"/>
            <a:ext cx="91440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92240" y="3950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High Engagement Creator</a:t>
            </a:r>
            <a:endParaRPr lang="en-US" sz="1300" dirty="0">
              <a:latin typeface="Lucida Sans" panose="020B0602030504020204" pitchFamily="34" charset="7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92240" y="42885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Criteria: Avg engagement ≥50 per post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92240" y="44622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Use: Authentic reviews &amp; UGC campaigns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309360" y="4800600"/>
            <a:ext cx="5760720" cy="777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09360" y="480060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92240" y="48646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Community Advocate</a:t>
            </a:r>
            <a:endParaRPr lang="en-US" sz="1300" dirty="0">
              <a:latin typeface="Lucida Sans" panose="020B0602030504020204" pitchFamily="34" charset="7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492240" y="5202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Criteria: ≥3 posts, total engagement ≥100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492240" y="5376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Use: Hashtag challenges &amp; beta testing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180028"/>
          </a:solidFill>
          <a:ln w="12700">
            <a:solidFill>
              <a:srgbClr val="18002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94360" y="5870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follower count (reach) with engagement rate (quality) to avoid vanity-metric traps. Micro-influencers with small but loyal audiences often outperform high-follower accounts in conversion.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1996928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FFFFFF"/>
                </a:solidFill>
                <a:latin typeface="+mj-lt"/>
                <a:ea typeface="Georgia" pitchFamily="34" charset="-122"/>
                <a:cs typeface="Georgia" pitchFamily="34" charset="-120"/>
              </a:rPr>
              <a:t>Ad Campaign Optimization Framework</a:t>
            </a:r>
            <a:endParaRPr lang="en-US" sz="37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KPIs, funnel diagnostics, and budget reallocation strategy</a:t>
            </a:r>
            <a:endParaRPr lang="en-US" sz="1400" dirty="0">
              <a:latin typeface="Lucida Sans" panose="020B0602030504020204" pitchFamily="34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057400" cy="12344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Clicks / Impressions × 100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Ad creative effectiveness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7208" y="1417320"/>
            <a:ext cx="2057400" cy="12344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44368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44368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Conversions / Clicks × 100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44368" y="2258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Landing page &amp; offer quality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02936" y="1417320"/>
            <a:ext cx="2057400" cy="12344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0096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40096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Cost / Clicks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40096" y="2258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Efficiency of click acquisition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98664" y="1417320"/>
            <a:ext cx="1920240" cy="12344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35824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35824" y="1984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Cost / Conversions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35824" y="2258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Cost per customer action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56064" y="1417320"/>
            <a:ext cx="2240280" cy="12344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93224" y="1508760"/>
            <a:ext cx="16888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848088" y="1975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Revenue / Cost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793224" y="2258568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Return on ad investment</a:t>
            </a:r>
            <a:endParaRPr lang="en-US" sz="1000" dirty="0">
              <a:latin typeface="Lucida Sans" panose="020B0602030504020204" pitchFamily="34" charset="7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1148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Diagnosis &amp; Fix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11480" y="3310128"/>
            <a:ext cx="54864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474720"/>
            <a:ext cx="5669280" cy="53035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5661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358444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Low CTR  →  </a:t>
            </a: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Optimize creative, copy, targeting &amp; CTA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11480" y="4096512"/>
            <a:ext cx="5669280" cy="53035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187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42062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High CTR, Low CVR  →  </a:t>
            </a: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Fix landing page, pricing &amp; checkout UX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1480" y="4718304"/>
            <a:ext cx="5669280" cy="53035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8097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" y="482803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High CPA  →  </a:t>
            </a: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Pause weak audiences, reallocate budget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11480" y="5340096"/>
            <a:ext cx="5669280" cy="530352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54315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54498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Low ROAS  →  </a:t>
            </a:r>
            <a:r>
              <a:rPr lang="en-US" sz="1200" dirty="0">
                <a:solidFill>
                  <a:srgbClr val="FFFFFF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Retarget warm audiences, raise order value</a:t>
            </a:r>
            <a:endParaRPr lang="en-US" sz="1200" dirty="0">
              <a:latin typeface="Lucida Sans" panose="020B0602030504020204" pitchFamily="34" charset="7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09360" y="2834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Performance Example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309360" y="3310128"/>
            <a:ext cx="53035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9360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14616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19872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25128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30384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835640" y="3474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9360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14616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14616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19872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119872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025128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25128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930384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930384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835640" y="4087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835640" y="4517136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309360" y="4517136"/>
            <a:ext cx="5440680" cy="0"/>
          </a:xfrm>
          <a:prstGeom prst="line">
            <a:avLst/>
          </a:prstGeom>
          <a:noFill/>
          <a:ln w="1016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09360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09360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214616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214616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119872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119872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025128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025128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930384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930384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835640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LP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0835640" y="5084064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309360" y="5084064"/>
            <a:ext cx="5440680" cy="0"/>
          </a:xfrm>
          <a:prstGeom prst="line">
            <a:avLst/>
          </a:prstGeom>
          <a:noFill/>
          <a:ln w="1016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309360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09360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214616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214616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119872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119872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025128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025128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930384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930384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835640" y="5221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CTR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0835640" y="5650992"/>
            <a:ext cx="822960" cy="0"/>
          </a:xfrm>
          <a:prstGeom prst="line">
            <a:avLst/>
          </a:prstGeom>
          <a:noFill/>
          <a:ln w="1905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309360" y="5650992"/>
            <a:ext cx="5440680" cy="0"/>
          </a:xfrm>
          <a:prstGeom prst="line">
            <a:avLst/>
          </a:prstGeom>
          <a:noFill/>
          <a:ln w="10160">
            <a:solidFill>
              <a:srgbClr val="3B07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001A1A"/>
          </a:solidFill>
          <a:ln w="12700">
            <a:solidFill>
              <a:srgbClr val="00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94360" y="5870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 campaigns with ROAS &gt;4. Use A/B testing on headlines and CTAs. Retarget click-but-no-convert users with personalized follow-up ads matched to their browsed hashtag categories.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228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FFFFFF"/>
                </a:solidFill>
                <a:latin typeface="+mj-lt"/>
                <a:ea typeface="Georgia" pitchFamily="34" charset="-122"/>
                <a:cs typeface="Georgia" pitchFamily="34" charset="-120"/>
              </a:rPr>
              <a:t>Loyalty, Retention &amp; Re-Engagement</a:t>
            </a:r>
            <a:endParaRPr lang="en-US" sz="37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Rewarding top creators and winning back dormant users</a:t>
            </a:r>
            <a:endParaRPr lang="en-US" sz="1400" dirty="0">
              <a:latin typeface="Lucida Sans" panose="020B0602030504020204" pitchFamily="34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Loyal Users (by Total Engagement)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54864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85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1854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420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1854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329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1854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361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299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880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47288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575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Cesar93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35753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338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35753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308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5753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142232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270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Delfina_VonRueden68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4270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285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42702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273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2702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17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837176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965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Aurelie71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4965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 280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49651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242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9651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20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1417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&amp; Incentive Program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00800" y="1901952"/>
            <a:ext cx="53035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2057400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65392" y="21671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Creator Badge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086600" y="2404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recognition on profile &amp; feed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2752344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65392" y="2862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086600" y="28437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Feed Boost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86600" y="30998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reach wider audiences automatically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3447288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65392" y="3557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86600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Feature Access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086600" y="37947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tools and exclusive platform features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142232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65392" y="4251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086600" y="4233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86600" y="4489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partnership opportunities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837176"/>
            <a:ext cx="5669280" cy="585216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65392" y="4946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086600" y="4928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86600" y="51846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insights &amp; audience breakdown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5760720"/>
            <a:ext cx="11338560" cy="804672"/>
          </a:xfrm>
          <a:prstGeom prst="rect">
            <a:avLst/>
          </a:prstGeom>
          <a:solidFill>
            <a:srgbClr val="320028"/>
          </a:solidFill>
          <a:ln w="12700">
            <a:solidFill>
              <a:srgbClr val="32002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5870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dormant users: personalized push notifications, 'Comeback Creator' campaigns, trending hashtag suggestions, and community theme challenges rebuild habits and reduce churn.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FFFFF"/>
                </a:solidFill>
                <a:latin typeface="+mj-lt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4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Five pillars to drive Meta's Instagram marketing objectives</a:t>
            </a:r>
            <a:endParaRPr lang="en-US" sz="1500" dirty="0">
              <a:latin typeface="Lucida Sans" panose="020B0602030504020204" pitchFamily="34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1920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74904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98448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Power Creators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221992"/>
            <a:ext cx="3419856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50008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Reward top 5 users with badges, feed boosts &amp; partnerships. Use engagement-per-post (not raw followers) as the primary metric.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749040" cy="1920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1508760"/>
            <a:ext cx="3749040" cy="914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709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0368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Hashtag-Driven Ad Targeting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53712" y="2221992"/>
            <a:ext cx="3419856" cy="0"/>
          </a:xfrm>
          <a:prstGeom prst="line">
            <a:avLst/>
          </a:prstGeom>
          <a:noFill/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53712" y="2350008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Align paid campaigns with #dreamy, #beauty, #stunning, #foodie. Integrate hashtag intent signals into the ad auction targeting model.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21040" y="1508760"/>
            <a:ext cx="3749040" cy="1920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1508760"/>
            <a:ext cx="37490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85632" y="1709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62288" y="1691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Dormant Users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85632" y="2221992"/>
            <a:ext cx="3419856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85632" y="2350008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Launch 'Comeback Creator' email &amp; push campaigns for 40–45% inactive base. Offer content prompts, community challenges, and milestone rewards.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3602736" cy="1920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 flipV="1">
            <a:off x="457200" y="3538728"/>
            <a:ext cx="3602736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98448" y="38404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Tier Program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" y="4370832"/>
            <a:ext cx="3419856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4498848"/>
            <a:ext cx="3419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micro-influencers by engagement rate (not follower count). Establish brand ambassador criteria and structured collaboration frameworks.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657600"/>
            <a:ext cx="5166360" cy="1920240"/>
          </a:xfrm>
          <a:prstGeom prst="rect">
            <a:avLst/>
          </a:prstGeom>
          <a:solidFill>
            <a:srgbClr val="2D1256"/>
          </a:solidFill>
          <a:ln w="12700">
            <a:solidFill>
              <a:srgbClr val="2D125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0" y="3630168"/>
            <a:ext cx="516636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93792" y="38587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764192" y="3840480"/>
            <a:ext cx="3102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Ad Spend via ROAS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 flipV="1">
            <a:off x="5029200" y="4334256"/>
            <a:ext cx="5166360" cy="3657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93792" y="4498848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Lucida Sans" panose="020B0602030504020204" pitchFamily="34" charset="77"/>
                <a:ea typeface="Calibri" pitchFamily="34" charset="-122"/>
                <a:cs typeface="Calibri" pitchFamily="34" charset="-120"/>
              </a:rPr>
              <a:t>Measure CTR, CVR, CPA, and ROAS per campaign. Reallocate budget from low-ROAS campaigns; A/B test creatives against top hashtag segments.</a:t>
            </a:r>
            <a:endParaRPr lang="en-US" sz="1100" dirty="0">
              <a:latin typeface="Lucida Sans" panose="020B0602030504020204" pitchFamily="34" charset="7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204</TotalTime>
  <Words>1578</Words>
  <Application>Microsoft Macintosh PowerPoint</Application>
  <PresentationFormat>Widescreen</PresentationFormat>
  <Paragraphs>283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Bookman Old Style</vt:lpstr>
      <vt:lpstr>Calibri</vt:lpstr>
      <vt:lpstr>Century Gothic</vt:lpstr>
      <vt:lpstr>Georgia</vt:lpstr>
      <vt:lpstr>Lucida Sans</vt:lpstr>
      <vt:lpstr>Vapor Trail</vt:lpstr>
      <vt:lpstr>Social Media Analysis  </vt:lpstr>
      <vt:lpstr>Project Overview </vt:lpstr>
      <vt:lpstr>Database Schema</vt:lpstr>
      <vt:lpstr>Data Overview</vt:lpstr>
      <vt:lpstr>Objectives Key Metrics</vt:lpstr>
      <vt:lpstr>User Activity &amp; Engagement Distribution </vt:lpstr>
      <vt:lpstr>Engagement Behavior Segments </vt:lpstr>
      <vt:lpstr>Per post average</vt:lpstr>
      <vt:lpstr>Avg Likes per tag</vt:lpstr>
      <vt:lpstr>PowerPoint Presentation</vt:lpstr>
      <vt:lpstr>Top 5 users having highest likes, comments, and photo tags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2026-05-21T03:45:49Z</dcterms:created>
  <dcterms:modified xsi:type="dcterms:W3CDTF">2026-05-21T07:10:39Z</dcterms:modified>
</cp:coreProperties>
</file>